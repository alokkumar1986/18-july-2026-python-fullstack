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8578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242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0372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411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0117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2087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2898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7179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788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0741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4535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204C76-62AF-4A47-BD74-85C08E4F921E}" type="datetimeFigureOut">
              <a:rPr lang="en-IN" smtClean="0"/>
              <a:t>21-08-2025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42CF3-F380-4E29-B349-665D67F85AA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028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sharptutorial.net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 smtClean="0"/>
              <a:t>Python Tutorial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 smtClean="0"/>
              <a:t>By </a:t>
            </a:r>
            <a:r>
              <a:rPr lang="en-IN" dirty="0" err="1" smtClean="0"/>
              <a:t>Alok</a:t>
            </a:r>
            <a:r>
              <a:rPr lang="en-IN" dirty="0" smtClean="0"/>
              <a:t> </a:t>
            </a:r>
            <a:r>
              <a:rPr lang="en-IN" dirty="0" err="1" smtClean="0"/>
              <a:t>kumar</a:t>
            </a:r>
            <a:r>
              <a:rPr lang="en-IN" dirty="0" smtClean="0"/>
              <a:t> </a:t>
            </a:r>
            <a:r>
              <a:rPr lang="en-IN" dirty="0" err="1" smtClean="0"/>
              <a:t>Nayak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878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Fundamentals 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smtClean="0"/>
              <a:t>Whitespaces and Indentation</a:t>
            </a:r>
          </a:p>
          <a:p>
            <a:r>
              <a:rPr lang="en-IN" dirty="0" smtClean="0"/>
              <a:t>Comments</a:t>
            </a:r>
          </a:p>
          <a:p>
            <a:r>
              <a:rPr lang="en-IN" dirty="0" smtClean="0"/>
              <a:t>Statements</a:t>
            </a:r>
          </a:p>
          <a:p>
            <a:r>
              <a:rPr lang="en-IN" dirty="0" smtClean="0"/>
              <a:t>Identifiers</a:t>
            </a:r>
          </a:p>
          <a:p>
            <a:r>
              <a:rPr lang="en-IN" dirty="0" smtClean="0"/>
              <a:t>Keywords</a:t>
            </a:r>
          </a:p>
          <a:p>
            <a:r>
              <a:rPr lang="en-IN" dirty="0" smtClean="0"/>
              <a:t>String Literals</a:t>
            </a:r>
          </a:p>
        </p:txBody>
      </p:sp>
    </p:spTree>
    <p:extLst>
      <p:ext uri="{BB962C8B-B14F-4D97-AF65-F5344CB8AC3E}">
        <p14:creationId xmlns:p14="http://schemas.microsoft.com/office/powerpoint/2010/main" val="975852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Whitespaces and Indentation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IN" dirty="0" smtClean="0"/>
              <a:t>We use </a:t>
            </a:r>
            <a:r>
              <a:rPr lang="en-GB" dirty="0"/>
              <a:t>indentation and whitespace to organize </a:t>
            </a:r>
            <a:r>
              <a:rPr lang="en-GB" dirty="0" smtClean="0"/>
              <a:t>the python code. </a:t>
            </a:r>
          </a:p>
          <a:p>
            <a:pPr marL="0" indent="0" algn="just">
              <a:buNone/>
            </a:pPr>
            <a:r>
              <a:rPr lang="en-GB" dirty="0"/>
              <a:t>Python code gains the following advantages:</a:t>
            </a:r>
            <a:endParaRPr lang="en-GB" dirty="0" smtClean="0"/>
          </a:p>
          <a:p>
            <a:r>
              <a:rPr lang="en-GB" dirty="0"/>
              <a:t>First, </a:t>
            </a:r>
            <a:r>
              <a:rPr lang="en-GB" dirty="0" smtClean="0"/>
              <a:t>you’ll </a:t>
            </a:r>
            <a:r>
              <a:rPr lang="en-GB" dirty="0"/>
              <a:t>never miss the beginning or ending code of a block like in other programming languages such as Java or </a:t>
            </a:r>
            <a:r>
              <a:rPr lang="en-GB" dirty="0">
                <a:hlinkClick r:id="rId2"/>
              </a:rPr>
              <a:t>C#</a:t>
            </a:r>
            <a:r>
              <a:rPr lang="en-GB" dirty="0"/>
              <a:t>.</a:t>
            </a:r>
          </a:p>
          <a:p>
            <a:r>
              <a:rPr lang="en-GB" dirty="0" smtClean="0"/>
              <a:t>Second, </a:t>
            </a:r>
            <a:r>
              <a:rPr lang="en-GB" dirty="0"/>
              <a:t>the coding style is essentially uniform. If you have to maintain another </a:t>
            </a:r>
            <a:r>
              <a:rPr lang="en-GB" dirty="0" smtClean="0"/>
              <a:t>developer’s code, </a:t>
            </a:r>
            <a:r>
              <a:rPr lang="en-GB" dirty="0"/>
              <a:t>that code looks the same as yours.</a:t>
            </a:r>
          </a:p>
          <a:p>
            <a:r>
              <a:rPr lang="en-GB" dirty="0"/>
              <a:t>Third, the code is more readable and clear in comparison with other programming languages.</a:t>
            </a:r>
          </a:p>
          <a:p>
            <a:pPr marL="0" indent="0" algn="just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65050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Comments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smtClean="0"/>
              <a:t>Like other programming languages, python also uses comments to describe a block of code. </a:t>
            </a:r>
          </a:p>
          <a:p>
            <a:r>
              <a:rPr lang="en-IN" dirty="0" smtClean="0"/>
              <a:t>When python interpreter finds a comment, it ignores it and does not execute the code.</a:t>
            </a:r>
          </a:p>
          <a:p>
            <a:r>
              <a:rPr lang="en-IN" dirty="0" smtClean="0"/>
              <a:t>There are two types of comments</a:t>
            </a:r>
          </a:p>
          <a:p>
            <a:pPr marL="514350" indent="-514350">
              <a:buAutoNum type="arabicParenR"/>
            </a:pPr>
            <a:r>
              <a:rPr lang="en-IN" dirty="0" smtClean="0"/>
              <a:t>Singleline comment (#)</a:t>
            </a:r>
          </a:p>
          <a:p>
            <a:pPr marL="514350" indent="-514350">
              <a:buAutoNum type="arabicParenR"/>
            </a:pPr>
            <a:r>
              <a:rPr lang="en-IN" dirty="0" smtClean="0"/>
              <a:t>Multiline comment  (“”” / ‘’’)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2544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 smtClean="0"/>
              <a:t>Statements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 Python, a statement is an instruction that the Python interpreter can execute</a:t>
            </a:r>
            <a:r>
              <a:rPr lang="en-GB" dirty="0" smtClean="0"/>
              <a:t>.</a:t>
            </a:r>
          </a:p>
          <a:p>
            <a:r>
              <a:rPr lang="en-GB" dirty="0" smtClean="0"/>
              <a:t>Each line in a python program is a statement.</a:t>
            </a:r>
          </a:p>
          <a:p>
            <a:r>
              <a:rPr lang="en-GB" dirty="0" smtClean="0"/>
              <a:t>Each program is group of statements.</a:t>
            </a:r>
          </a:p>
          <a:p>
            <a:endParaRPr lang="en-GB" dirty="0" smtClean="0"/>
          </a:p>
          <a:p>
            <a:pPr marL="0" indent="0">
              <a:buNone/>
            </a:pPr>
            <a:r>
              <a:rPr lang="en-GB" dirty="0" smtClean="0"/>
              <a:t>A statement is a combination of several identifiers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6488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9525" y="504122"/>
            <a:ext cx="10515600" cy="1325563"/>
          </a:xfrm>
        </p:spPr>
        <p:txBody>
          <a:bodyPr/>
          <a:lstStyle/>
          <a:p>
            <a:r>
              <a:rPr lang="en-IN" dirty="0"/>
              <a:t>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2439" y="1921420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A name in Python program is called identifier. It can be class name or function name or module name or variable name. </a:t>
            </a:r>
            <a:endParaRPr lang="en-GB" dirty="0" smtClean="0"/>
          </a:p>
          <a:p>
            <a:r>
              <a:rPr lang="en-GB" dirty="0" err="1" smtClean="0"/>
              <a:t>Eg</a:t>
            </a:r>
            <a:r>
              <a:rPr lang="en-GB" dirty="0"/>
              <a:t>: a = 20 </a:t>
            </a:r>
            <a:endParaRPr lang="en-GB" dirty="0" smtClean="0"/>
          </a:p>
          <a:p>
            <a:r>
              <a:rPr lang="en-GB" dirty="0" smtClean="0"/>
              <a:t>It </a:t>
            </a:r>
            <a:r>
              <a:rPr lang="en-GB" dirty="0"/>
              <a:t>is a valid Python statement. Here 'a' is an identifier</a:t>
            </a:r>
            <a:r>
              <a:rPr lang="en-GB" dirty="0" smtClean="0"/>
              <a:t>.</a:t>
            </a:r>
            <a:endParaRPr lang="en-IN" dirty="0" smtClean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837111" y="2905253"/>
            <a:ext cx="9786257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800" dirty="0" smtClean="0">
                <a:latin typeface="+mn-lt"/>
              </a:rPr>
              <a:t> </a:t>
            </a:r>
            <a:endParaRPr lang="en-US" altLang="en-US" sz="2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699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Rules to define identifiers in Python</a:t>
            </a:r>
            <a:r>
              <a:rPr lang="en-GB" dirty="0" smtClean="0"/>
              <a:t>: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n-GB" dirty="0"/>
              <a:t>1. The only allowed characters in Python are </a:t>
            </a:r>
            <a:r>
              <a:rPr lang="en-GB" dirty="0" smtClean="0"/>
              <a:t>In</a:t>
            </a:r>
          </a:p>
          <a:p>
            <a:pPr marL="0" indent="0">
              <a:buNone/>
            </a:pPr>
            <a:r>
              <a:rPr lang="en-GB" dirty="0" smtClean="0"/>
              <a:t>- alphabet </a:t>
            </a:r>
            <a:r>
              <a:rPr lang="en-GB" dirty="0"/>
              <a:t>symbols(either lower case or upper case</a:t>
            </a:r>
            <a:r>
              <a:rPr lang="en-GB" dirty="0" smtClean="0"/>
              <a:t>)</a:t>
            </a:r>
            <a:r>
              <a:rPr lang="en-GB" dirty="0"/>
              <a:t/>
            </a:r>
            <a:br>
              <a:rPr lang="en-GB" dirty="0"/>
            </a:br>
            <a:r>
              <a:rPr lang="en-GB" dirty="0" smtClean="0"/>
              <a:t>- digits(0 </a:t>
            </a:r>
            <a:r>
              <a:rPr lang="en-GB" dirty="0"/>
              <a:t>to 9) </a:t>
            </a:r>
            <a:br>
              <a:rPr lang="en-GB" dirty="0"/>
            </a:br>
            <a:r>
              <a:rPr lang="en-GB" dirty="0" smtClean="0"/>
              <a:t>- underscore (_)</a:t>
            </a:r>
          </a:p>
          <a:p>
            <a:pPr marL="0" indent="0">
              <a:buNone/>
            </a:pPr>
            <a:r>
              <a:rPr lang="en-GB" dirty="0" smtClean="0"/>
              <a:t>2. Identifier </a:t>
            </a:r>
            <a:r>
              <a:rPr lang="en-GB" dirty="0"/>
              <a:t>should not starts with </a:t>
            </a:r>
            <a:r>
              <a:rPr lang="en-GB" dirty="0" smtClean="0"/>
              <a:t>digit</a:t>
            </a:r>
          </a:p>
          <a:p>
            <a:pPr marL="0" indent="0">
              <a:buNone/>
            </a:pPr>
            <a:r>
              <a:rPr lang="en-GB" dirty="0" smtClean="0"/>
              <a:t>3. </a:t>
            </a:r>
            <a:r>
              <a:rPr lang="en-GB" dirty="0"/>
              <a:t>Identifiers are case sensitive. Of course Python language itself is case sensitive language</a:t>
            </a:r>
            <a:r>
              <a:rPr lang="en-GB" dirty="0" smtClean="0"/>
              <a:t>.</a:t>
            </a:r>
          </a:p>
          <a:p>
            <a:pPr marL="0" indent="0">
              <a:buNone/>
            </a:pPr>
            <a:r>
              <a:rPr lang="en-GB" dirty="0" smtClean="0"/>
              <a:t>4. </a:t>
            </a:r>
            <a:r>
              <a:rPr lang="en-GB" dirty="0"/>
              <a:t>There is no length limit for Python identifiers. But not recommended to use too lengthy identifiers</a:t>
            </a:r>
            <a:r>
              <a:rPr lang="en-GB" dirty="0" smtClean="0"/>
              <a:t>.</a:t>
            </a:r>
          </a:p>
          <a:p>
            <a:pPr marL="0" indent="0">
              <a:buNone/>
            </a:pPr>
            <a:r>
              <a:rPr lang="en-GB" dirty="0" smtClean="0"/>
              <a:t>5. </a:t>
            </a:r>
            <a:r>
              <a:rPr lang="en-GB" dirty="0"/>
              <a:t>We cannot use reserved words as </a:t>
            </a:r>
            <a:r>
              <a:rPr lang="en-GB" dirty="0" smtClean="0"/>
              <a:t>identifiers.</a:t>
            </a:r>
          </a:p>
        </p:txBody>
      </p:sp>
    </p:spTree>
    <p:extLst>
      <p:ext uri="{BB962C8B-B14F-4D97-AF65-F5344CB8AC3E}">
        <p14:creationId xmlns:p14="http://schemas.microsoft.com/office/powerpoint/2010/main" val="3569079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Keywords in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In Python some words are reserved to represent some meaning or functionality. Such type of words are called Reserved words. </a:t>
            </a:r>
            <a:endParaRPr lang="en-GB" dirty="0" smtClean="0"/>
          </a:p>
          <a:p>
            <a:pPr marL="0" indent="0">
              <a:buNone/>
            </a:pPr>
            <a:r>
              <a:rPr lang="en-GB" dirty="0" smtClean="0"/>
              <a:t>There </a:t>
            </a:r>
            <a:r>
              <a:rPr lang="en-GB"/>
              <a:t>are </a:t>
            </a:r>
            <a:r>
              <a:rPr lang="en-GB" smtClean="0"/>
              <a:t>35 </a:t>
            </a:r>
            <a:r>
              <a:rPr lang="en-GB" dirty="0"/>
              <a:t>reserved words available in Python. </a:t>
            </a:r>
            <a:endParaRPr lang="en-GB" dirty="0" smtClean="0"/>
          </a:p>
          <a:p>
            <a:r>
              <a:rPr lang="en-GB" dirty="0" smtClean="0"/>
              <a:t>True, False, None </a:t>
            </a:r>
          </a:p>
          <a:p>
            <a:r>
              <a:rPr lang="en-GB" dirty="0" smtClean="0"/>
              <a:t>and, or, not, is </a:t>
            </a:r>
          </a:p>
          <a:p>
            <a:r>
              <a:rPr lang="en-GB" dirty="0" smtClean="0"/>
              <a:t>if, </a:t>
            </a:r>
            <a:r>
              <a:rPr lang="en-GB" dirty="0" err="1" smtClean="0"/>
              <a:t>elif</a:t>
            </a:r>
            <a:r>
              <a:rPr lang="en-GB" dirty="0" smtClean="0"/>
              <a:t>, else</a:t>
            </a:r>
          </a:p>
          <a:p>
            <a:r>
              <a:rPr lang="en-GB" dirty="0" smtClean="0"/>
              <a:t>while, for, break, continue, return, in, yield </a:t>
            </a:r>
          </a:p>
          <a:p>
            <a:r>
              <a:rPr lang="en-GB" dirty="0" smtClean="0"/>
              <a:t>try, except, finally, raise, assert</a:t>
            </a:r>
          </a:p>
          <a:p>
            <a:r>
              <a:rPr lang="en-GB" dirty="0" smtClean="0"/>
              <a:t>import, from, as, class, </a:t>
            </a:r>
            <a:r>
              <a:rPr lang="en-GB" dirty="0" err="1" smtClean="0"/>
              <a:t>def</a:t>
            </a:r>
            <a:r>
              <a:rPr lang="en-GB" dirty="0" smtClean="0"/>
              <a:t>, pass, global, nonlocal, lambda, del, with </a:t>
            </a:r>
          </a:p>
        </p:txBody>
      </p:sp>
    </p:spTree>
    <p:extLst>
      <p:ext uri="{BB962C8B-B14F-4D97-AF65-F5344CB8AC3E}">
        <p14:creationId xmlns:p14="http://schemas.microsoft.com/office/powerpoint/2010/main" val="2476196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Keywords in </a:t>
            </a:r>
            <a:r>
              <a:rPr lang="en-IN" dirty="0" smtClean="0"/>
              <a:t>Python (Continue.)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GB" dirty="0"/>
              <a:t>All 33 keywords contains only alphabets symbols. </a:t>
            </a:r>
          </a:p>
          <a:p>
            <a:pPr marL="514350" indent="-514350">
              <a:buAutoNum type="arabicPeriod"/>
            </a:pPr>
            <a:r>
              <a:rPr lang="en-GB" dirty="0"/>
              <a:t>Except the following 3 reserved words, all contain only lower case alphabet symbols. </a:t>
            </a:r>
          </a:p>
          <a:p>
            <a:pPr marL="0" indent="0">
              <a:buNone/>
            </a:pPr>
            <a:r>
              <a:rPr lang="en-GB" dirty="0"/>
              <a:t>       True </a:t>
            </a:r>
          </a:p>
          <a:p>
            <a:pPr marL="0" indent="0">
              <a:buNone/>
            </a:pPr>
            <a:r>
              <a:rPr lang="en-GB" dirty="0"/>
              <a:t>       False </a:t>
            </a:r>
          </a:p>
          <a:p>
            <a:pPr marL="0" indent="0">
              <a:buNone/>
            </a:pPr>
            <a:r>
              <a:rPr lang="en-GB" dirty="0"/>
              <a:t>       None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9831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 </a:t>
            </a:r>
            <a:r>
              <a:rPr lang="en-IN" dirty="0" smtClean="0"/>
              <a:t>Literals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smtClean="0"/>
              <a:t>To </a:t>
            </a:r>
            <a:r>
              <a:rPr lang="en-IN" smtClean="0"/>
              <a:t>be continued….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686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3298</TotalTime>
  <Words>318</Words>
  <Application>Microsoft Office PowerPoint</Application>
  <PresentationFormat>Widescreen</PresentationFormat>
  <Paragraphs>56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Python Tutorial</vt:lpstr>
      <vt:lpstr>Fundamentals </vt:lpstr>
      <vt:lpstr>Whitespaces and Indentation</vt:lpstr>
      <vt:lpstr>Comments</vt:lpstr>
      <vt:lpstr>Statements</vt:lpstr>
      <vt:lpstr>Identifiers</vt:lpstr>
      <vt:lpstr>Rules to define identifiers in Python:</vt:lpstr>
      <vt:lpstr>Keywords in Python</vt:lpstr>
      <vt:lpstr>Keywords in Python (Continue.)</vt:lpstr>
      <vt:lpstr>String Literals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Tutorial</dc:title>
  <dc:creator>ISU_375</dc:creator>
  <cp:lastModifiedBy>Alok Kumar Nayak</cp:lastModifiedBy>
  <cp:revision>21</cp:revision>
  <dcterms:created xsi:type="dcterms:W3CDTF">2024-06-22T11:11:24Z</dcterms:created>
  <dcterms:modified xsi:type="dcterms:W3CDTF">2025-08-21T03:07:55Z</dcterms:modified>
</cp:coreProperties>
</file>